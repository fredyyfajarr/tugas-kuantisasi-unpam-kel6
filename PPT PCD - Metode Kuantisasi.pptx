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Ultra-Bold" charset="1" panose="000009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Italics" charset="1" panose="020B0606030504020204"/>
      <p:regular r:id="rId22"/>
    </p:embeddedFont>
    <p:embeddedFont>
      <p:font typeface="Poppins Italics" charset="1" panose="00000500000000000000"/>
      <p:regular r:id="rId23"/>
    </p:embeddedFont>
    <p:embeddedFont>
      <p:font typeface="Poppins Bold Italics" charset="1" panose="00000800000000000000"/>
      <p:regular r:id="rId24"/>
    </p:embeddedFont>
    <p:embeddedFont>
      <p:font typeface="Poppins Semi-Bold" charset="1" panose="000007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0" y="0"/>
                </a:moveTo>
                <a:lnTo>
                  <a:pt x="5019178" y="0"/>
                </a:lnTo>
                <a:lnTo>
                  <a:pt x="5019178" y="2264904"/>
                </a:lnTo>
                <a:lnTo>
                  <a:pt x="0" y="2264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268822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5019178" y="0"/>
                </a:moveTo>
                <a:lnTo>
                  <a:pt x="0" y="0"/>
                </a:lnTo>
                <a:lnTo>
                  <a:pt x="0" y="2264904"/>
                </a:lnTo>
                <a:lnTo>
                  <a:pt x="5019178" y="2264904"/>
                </a:lnTo>
                <a:lnTo>
                  <a:pt x="50191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7587" y="2518015"/>
            <a:ext cx="13952826" cy="52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8"/>
              </a:lnSpc>
            </a:pPr>
            <a:r>
              <a:rPr lang="en-US" b="true" sz="9970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PEMAMPATAN  CITRA</a:t>
            </a:r>
          </a:p>
          <a:p>
            <a:pPr algn="ctr">
              <a:lnSpc>
                <a:spcPts val="4279"/>
              </a:lnSpc>
            </a:pPr>
          </a:p>
          <a:p>
            <a:pPr algn="ctr">
              <a:lnSpc>
                <a:spcPts val="10668"/>
              </a:lnSpc>
            </a:pPr>
            <a:r>
              <a:rPr lang="en-US" b="true" sz="9970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METODE </a:t>
            </a:r>
          </a:p>
          <a:p>
            <a:pPr algn="ctr">
              <a:lnSpc>
                <a:spcPts val="4279"/>
              </a:lnSpc>
            </a:pPr>
            <a:r>
              <a:rPr lang="en-US" b="true" sz="3999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</a:p>
          <a:p>
            <a:pPr algn="ctr">
              <a:lnSpc>
                <a:spcPts val="10668"/>
              </a:lnSpc>
            </a:pPr>
            <a:r>
              <a:rPr lang="en-US" b="true" sz="9970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KUANTISASI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0" y="0"/>
                </a:moveTo>
                <a:lnTo>
                  <a:pt x="5019178" y="0"/>
                </a:lnTo>
                <a:lnTo>
                  <a:pt x="5019178" y="2264904"/>
                </a:lnTo>
                <a:lnTo>
                  <a:pt x="0" y="2264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268822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5019178" y="0"/>
                </a:moveTo>
                <a:lnTo>
                  <a:pt x="0" y="0"/>
                </a:lnTo>
                <a:lnTo>
                  <a:pt x="0" y="2264904"/>
                </a:lnTo>
                <a:lnTo>
                  <a:pt x="5019178" y="2264904"/>
                </a:lnTo>
                <a:lnTo>
                  <a:pt x="50191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60113" y="741654"/>
            <a:ext cx="6767773" cy="194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1"/>
              </a:lnSpc>
            </a:pPr>
            <a:r>
              <a:rPr lang="en-US" b="true" sz="6823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NAMA KELOMPOK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9677" y="3282934"/>
            <a:ext cx="13686049" cy="526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FARID NUHGRAHA                                                       231011400214</a:t>
            </a:r>
          </a:p>
          <a:p>
            <a:pPr algn="l">
              <a:lnSpc>
                <a:spcPts val="3808"/>
              </a:lnSpc>
            </a:pPr>
          </a:p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﻿FREDY FAJAR ADI PUTRA                                    231011400245</a:t>
            </a:r>
          </a:p>
          <a:p>
            <a:pPr algn="l">
              <a:lnSpc>
                <a:spcPts val="3808"/>
              </a:lnSpc>
            </a:pPr>
          </a:p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MAULANA AULIA RAHMAN                                231011400247</a:t>
            </a:r>
          </a:p>
          <a:p>
            <a:pPr algn="l">
              <a:lnSpc>
                <a:spcPts val="3808"/>
              </a:lnSpc>
            </a:pPr>
          </a:p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MUHAMMAD AZIZ MUFASHSHAL                   231011400236</a:t>
            </a:r>
          </a:p>
          <a:p>
            <a:pPr algn="l">
              <a:lnSpc>
                <a:spcPts val="3808"/>
              </a:lnSpc>
            </a:pPr>
          </a:p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MUHAMMAD FAIZ SAPUTRA                             231011402899</a:t>
            </a:r>
          </a:p>
          <a:p>
            <a:pPr algn="l">
              <a:lnSpc>
                <a:spcPts val="3808"/>
              </a:lnSpc>
            </a:pPr>
          </a:p>
          <a:p>
            <a:pPr algn="l">
              <a:lnSpc>
                <a:spcPts val="3808"/>
              </a:lnSpc>
            </a:pPr>
            <a:r>
              <a:rPr lang="en-US" sz="355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RAVAIL SHODIKIN                                                    231011402880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49337" y="2785530"/>
            <a:ext cx="5809963" cy="6045256"/>
          </a:xfrm>
          <a:custGeom>
            <a:avLst/>
            <a:gdLst/>
            <a:ahLst/>
            <a:cxnLst/>
            <a:rect r="r" b="b" t="t" l="l"/>
            <a:pathLst>
              <a:path h="6045256" w="5809963">
                <a:moveTo>
                  <a:pt x="0" y="0"/>
                </a:moveTo>
                <a:lnTo>
                  <a:pt x="5809963" y="0"/>
                </a:lnTo>
                <a:lnTo>
                  <a:pt x="5809963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901" r="0" b="-390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36165" y="847725"/>
            <a:ext cx="4815669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KUANTISASI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426" y="2699805"/>
            <a:ext cx="9932398" cy="614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Definisi: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Teknik lossy compression yang mengurangi jumlah level intensitas (keabuan atau RGB) pada citra.</a:t>
            </a:r>
          </a:p>
          <a:p>
            <a:pPr algn="l">
              <a:lnSpc>
                <a:spcPts val="4294"/>
              </a:lnSpc>
            </a:pPr>
          </a:p>
          <a:p>
            <a:pPr algn="l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Tujuan: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Memperkecil ukuran data dengan mengurangi bit per pixel, meskipun mengurangi detail halus (gradasi).</a:t>
            </a:r>
          </a:p>
          <a:p>
            <a:pPr algn="l">
              <a:lnSpc>
                <a:spcPts val="429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5912" y="2856841"/>
            <a:ext cx="7103829" cy="5695965"/>
            <a:chOff x="0" y="0"/>
            <a:chExt cx="1165838" cy="934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5838" cy="934788"/>
            </a:xfrm>
            <a:custGeom>
              <a:avLst/>
              <a:gdLst/>
              <a:ahLst/>
              <a:cxnLst/>
              <a:rect r="r" b="b" t="t" l="l"/>
              <a:pathLst>
                <a:path h="934788" w="1165838">
                  <a:moveTo>
                    <a:pt x="39234" y="0"/>
                  </a:moveTo>
                  <a:lnTo>
                    <a:pt x="1126605" y="0"/>
                  </a:lnTo>
                  <a:cubicBezTo>
                    <a:pt x="1137010" y="0"/>
                    <a:pt x="1146989" y="4134"/>
                    <a:pt x="1154347" y="11491"/>
                  </a:cubicBezTo>
                  <a:cubicBezTo>
                    <a:pt x="1161705" y="18849"/>
                    <a:pt x="1165838" y="28828"/>
                    <a:pt x="1165838" y="39234"/>
                  </a:cubicBezTo>
                  <a:lnTo>
                    <a:pt x="1165838" y="895554"/>
                  </a:lnTo>
                  <a:cubicBezTo>
                    <a:pt x="1165838" y="905960"/>
                    <a:pt x="1161705" y="915939"/>
                    <a:pt x="1154347" y="923297"/>
                  </a:cubicBezTo>
                  <a:cubicBezTo>
                    <a:pt x="1146989" y="930654"/>
                    <a:pt x="1137010" y="934788"/>
                    <a:pt x="1126605" y="934788"/>
                  </a:cubicBezTo>
                  <a:lnTo>
                    <a:pt x="39234" y="934788"/>
                  </a:lnTo>
                  <a:cubicBezTo>
                    <a:pt x="28828" y="934788"/>
                    <a:pt x="18849" y="930654"/>
                    <a:pt x="11491" y="923297"/>
                  </a:cubicBezTo>
                  <a:cubicBezTo>
                    <a:pt x="4134" y="915939"/>
                    <a:pt x="0" y="905960"/>
                    <a:pt x="0" y="895554"/>
                  </a:cubicBezTo>
                  <a:lnTo>
                    <a:pt x="0" y="39234"/>
                  </a:lnTo>
                  <a:cubicBezTo>
                    <a:pt x="0" y="28828"/>
                    <a:pt x="4134" y="18849"/>
                    <a:pt x="11491" y="11491"/>
                  </a:cubicBezTo>
                  <a:cubicBezTo>
                    <a:pt x="18849" y="4134"/>
                    <a:pt x="28828" y="0"/>
                    <a:pt x="39234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5838" cy="972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9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33128" y="2856841"/>
            <a:ext cx="7149160" cy="5695965"/>
            <a:chOff x="0" y="0"/>
            <a:chExt cx="1882906" cy="15001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2906" cy="1500172"/>
            </a:xfrm>
            <a:custGeom>
              <a:avLst/>
              <a:gdLst/>
              <a:ahLst/>
              <a:cxnLst/>
              <a:rect r="r" b="b" t="t" l="l"/>
              <a:pathLst>
                <a:path h="1500172" w="1882906">
                  <a:moveTo>
                    <a:pt x="38985" y="0"/>
                  </a:moveTo>
                  <a:lnTo>
                    <a:pt x="1843921" y="0"/>
                  </a:lnTo>
                  <a:cubicBezTo>
                    <a:pt x="1865452" y="0"/>
                    <a:pt x="1882906" y="17454"/>
                    <a:pt x="1882906" y="38985"/>
                  </a:cubicBezTo>
                  <a:lnTo>
                    <a:pt x="1882906" y="1461187"/>
                  </a:lnTo>
                  <a:cubicBezTo>
                    <a:pt x="1882906" y="1471526"/>
                    <a:pt x="1878799" y="1481442"/>
                    <a:pt x="1871488" y="1488754"/>
                  </a:cubicBezTo>
                  <a:cubicBezTo>
                    <a:pt x="1864177" y="1496065"/>
                    <a:pt x="1854261" y="1500172"/>
                    <a:pt x="1843921" y="1500172"/>
                  </a:cubicBezTo>
                  <a:lnTo>
                    <a:pt x="38985" y="1500172"/>
                  </a:lnTo>
                  <a:cubicBezTo>
                    <a:pt x="17454" y="1500172"/>
                    <a:pt x="0" y="1482718"/>
                    <a:pt x="0" y="1461187"/>
                  </a:cubicBezTo>
                  <a:lnTo>
                    <a:pt x="0" y="38985"/>
                  </a:lnTo>
                  <a:cubicBezTo>
                    <a:pt x="0" y="17454"/>
                    <a:pt x="17454" y="0"/>
                    <a:pt x="38985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882906" cy="1528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10244642" y="4101194"/>
          <a:ext cx="5657850" cy="4400550"/>
        </p:xfrm>
        <a:graphic>
          <a:graphicData uri="http://schemas.openxmlformats.org/presentationml/2006/ole">
            <p:oleObj imgW="6781800" imgH="5524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4445506" y="847725"/>
            <a:ext cx="9396989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BIT &amp; LEVEL KUANTISASI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2274" y="3168558"/>
            <a:ext cx="5201477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Rumus Dasar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2274" y="4164849"/>
            <a:ext cx="6378748" cy="72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4"/>
              </a:lnSpc>
              <a:spcBef>
                <a:spcPct val="0"/>
              </a:spcBef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Hubungan antara jumlah bit (m) dan jumlah level warna (G):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0624" y="5576701"/>
            <a:ext cx="139228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 </a:t>
            </a: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=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59293" y="5435584"/>
            <a:ext cx="11203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8453" y="6978294"/>
            <a:ext cx="6378748" cy="147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Dimana:</a:t>
            </a:r>
          </a:p>
          <a:p>
            <a:pPr algn="l" marL="452545" indent="-226272" lvl="1">
              <a:lnSpc>
                <a:spcPts val="2934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 = Jumlah Level (Grayscale/Color)</a:t>
            </a:r>
          </a:p>
          <a:p>
            <a:pPr algn="l" marL="452545" indent="-226272" lvl="1">
              <a:lnSpc>
                <a:spcPts val="2934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 = Jumlah Bit</a:t>
            </a:r>
          </a:p>
          <a:p>
            <a:pPr algn="l">
              <a:lnSpc>
                <a:spcPts val="293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151625" y="3168558"/>
            <a:ext cx="5201477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Tabel Konversi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02931" y="2746162"/>
            <a:ext cx="13282137" cy="6512138"/>
            <a:chOff x="0" y="0"/>
            <a:chExt cx="3498176" cy="1715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98176" cy="1715131"/>
            </a:xfrm>
            <a:custGeom>
              <a:avLst/>
              <a:gdLst/>
              <a:ahLst/>
              <a:cxnLst/>
              <a:rect r="r" b="b" t="t" l="l"/>
              <a:pathLst>
                <a:path h="1715131" w="3498176">
                  <a:moveTo>
                    <a:pt x="20984" y="0"/>
                  </a:moveTo>
                  <a:lnTo>
                    <a:pt x="3477192" y="0"/>
                  </a:lnTo>
                  <a:cubicBezTo>
                    <a:pt x="3488781" y="0"/>
                    <a:pt x="3498176" y="9395"/>
                    <a:pt x="3498176" y="20984"/>
                  </a:cubicBezTo>
                  <a:lnTo>
                    <a:pt x="3498176" y="1694147"/>
                  </a:lnTo>
                  <a:cubicBezTo>
                    <a:pt x="3498176" y="1705736"/>
                    <a:pt x="3488781" y="1715131"/>
                    <a:pt x="3477192" y="1715131"/>
                  </a:cubicBezTo>
                  <a:lnTo>
                    <a:pt x="20984" y="1715131"/>
                  </a:lnTo>
                  <a:cubicBezTo>
                    <a:pt x="9395" y="1715131"/>
                    <a:pt x="0" y="1705736"/>
                    <a:pt x="0" y="1694147"/>
                  </a:cubicBezTo>
                  <a:lnTo>
                    <a:pt x="0" y="20984"/>
                  </a:lnTo>
                  <a:cubicBezTo>
                    <a:pt x="0" y="9395"/>
                    <a:pt x="9395" y="0"/>
                    <a:pt x="20984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498176" cy="1743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0187" y="495829"/>
            <a:ext cx="17147627" cy="225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LANGKAH-LANGKAH ALGORITMA KUANTISASI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8420" y="2900256"/>
            <a:ext cx="12391159" cy="613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Buat Histogram: Hitung distribusi intensitas pixel untuk setiap saluran warna (R, G, B).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Tentukan Jumlah Kelompok: Berdasarkan bit target (misal 7 bit = 128 kelompok).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Bagi Pixel ke Kelompok: Setiap kelompok idealnya berisi jumlah pixel yang sama (non-uniform).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Beri Kode Baru: Setiap kelompok diberi label baru, dari 0 hingga (jumlah kelompok - 1).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Substitusi Nilai: Ganti semua nilai pixel lama dengan label kelompok barunya.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72274" y="2243516"/>
            <a:ext cx="14543452" cy="6761239"/>
            <a:chOff x="0" y="0"/>
            <a:chExt cx="3379612" cy="15711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9612" cy="1571179"/>
            </a:xfrm>
            <a:custGeom>
              <a:avLst/>
              <a:gdLst/>
              <a:ahLst/>
              <a:cxnLst/>
              <a:rect r="r" b="b" t="t" l="l"/>
              <a:pathLst>
                <a:path h="1571179" w="3379612">
                  <a:moveTo>
                    <a:pt x="19164" y="0"/>
                  </a:moveTo>
                  <a:lnTo>
                    <a:pt x="3360448" y="0"/>
                  </a:lnTo>
                  <a:cubicBezTo>
                    <a:pt x="3365531" y="0"/>
                    <a:pt x="3370405" y="2019"/>
                    <a:pt x="3373999" y="5613"/>
                  </a:cubicBezTo>
                  <a:cubicBezTo>
                    <a:pt x="3377593" y="9207"/>
                    <a:pt x="3379612" y="14081"/>
                    <a:pt x="3379612" y="19164"/>
                  </a:cubicBezTo>
                  <a:lnTo>
                    <a:pt x="3379612" y="1552015"/>
                  </a:lnTo>
                  <a:cubicBezTo>
                    <a:pt x="3379612" y="1557097"/>
                    <a:pt x="3377593" y="1561972"/>
                    <a:pt x="3373999" y="1565566"/>
                  </a:cubicBezTo>
                  <a:cubicBezTo>
                    <a:pt x="3370405" y="1569160"/>
                    <a:pt x="3365531" y="1571179"/>
                    <a:pt x="3360448" y="1571179"/>
                  </a:cubicBezTo>
                  <a:lnTo>
                    <a:pt x="19164" y="1571179"/>
                  </a:lnTo>
                  <a:cubicBezTo>
                    <a:pt x="14081" y="1571179"/>
                    <a:pt x="9207" y="1569160"/>
                    <a:pt x="5613" y="1565566"/>
                  </a:cubicBezTo>
                  <a:cubicBezTo>
                    <a:pt x="2019" y="1561972"/>
                    <a:pt x="0" y="1557097"/>
                    <a:pt x="0" y="1552015"/>
                  </a:cubicBezTo>
                  <a:lnTo>
                    <a:pt x="0" y="19164"/>
                  </a:lnTo>
                  <a:cubicBezTo>
                    <a:pt x="0" y="14081"/>
                    <a:pt x="2019" y="9207"/>
                    <a:pt x="5613" y="5613"/>
                  </a:cubicBezTo>
                  <a:cubicBezTo>
                    <a:pt x="9207" y="2019"/>
                    <a:pt x="14081" y="0"/>
                    <a:pt x="1916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79612" cy="1599754"/>
            </a:xfrm>
            <a:prstGeom prst="rect">
              <a:avLst/>
            </a:prstGeom>
          </p:spPr>
          <p:txBody>
            <a:bodyPr anchor="ctr" rtlCol="false" tIns="57576" lIns="57576" bIns="57576" rIns="57576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83299" y="3218197"/>
            <a:ext cx="6496474" cy="4811876"/>
          </a:xfrm>
          <a:custGeom>
            <a:avLst/>
            <a:gdLst/>
            <a:ahLst/>
            <a:cxnLst/>
            <a:rect r="r" b="b" t="t" l="l"/>
            <a:pathLst>
              <a:path h="4811876" w="6496474">
                <a:moveTo>
                  <a:pt x="0" y="0"/>
                </a:moveTo>
                <a:lnTo>
                  <a:pt x="6496474" y="0"/>
                </a:lnTo>
                <a:lnTo>
                  <a:pt x="6496474" y="4811876"/>
                </a:lnTo>
                <a:lnTo>
                  <a:pt x="0" y="481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1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7112" y="847725"/>
            <a:ext cx="12073776" cy="113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PRINSIP BERBASIS HISTOGRAM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3113" y="2850515"/>
            <a:ext cx="7584233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proses kuantisasi selalu dimulai dari histogram tiap kanal RGB. Tujuannya: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	Mengetahui distribusi pixel pada tiap tingkat keabuan.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	Membagi pixel ke dalam kelompok yang merata jumlahnya.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	Mengkodekan ulang intensitas berdasarkan kelompok histogram.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51055" y="3311488"/>
            <a:ext cx="7008245" cy="5510724"/>
          </a:xfrm>
          <a:custGeom>
            <a:avLst/>
            <a:gdLst/>
            <a:ahLst/>
            <a:cxnLst/>
            <a:rect r="r" b="b" t="t" l="l"/>
            <a:pathLst>
              <a:path h="5510724" w="7008245">
                <a:moveTo>
                  <a:pt x="0" y="0"/>
                </a:moveTo>
                <a:lnTo>
                  <a:pt x="7008245" y="0"/>
                </a:lnTo>
                <a:lnTo>
                  <a:pt x="7008245" y="5510724"/>
                </a:lnTo>
                <a:lnTo>
                  <a:pt x="0" y="551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73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64471" y="847725"/>
            <a:ext cx="7759058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PROSES KANAL RGB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8112" y="2348564"/>
            <a:ext cx="8061114" cy="690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61"/>
              </a:lnSpc>
            </a:pPr>
            <a:r>
              <a:rPr lang="en-US" sz="27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Pemrosesan Terpisah</a:t>
            </a:r>
          </a:p>
          <a:p>
            <a:pPr algn="just">
              <a:lnSpc>
                <a:spcPts val="2517"/>
              </a:lnSpc>
            </a:pPr>
          </a:p>
          <a:p>
            <a:pPr algn="just">
              <a:lnSpc>
                <a:spcPts val="3861"/>
              </a:lnSpc>
            </a:pPr>
            <a:r>
              <a:rPr lang="en-US" sz="27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Pada citra berwarna, kuantisasi tidak dilakukan langsung pada gabungan warna, melainkan:</a:t>
            </a:r>
          </a:p>
          <a:p>
            <a:pPr algn="just">
              <a:lnSpc>
                <a:spcPts val="1888"/>
              </a:lnSpc>
            </a:pPr>
          </a:p>
          <a:p>
            <a:pPr algn="just" marL="595468" indent="-297734" lvl="1">
              <a:lnSpc>
                <a:spcPts val="3861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Split Channel: Pisahkan citra menjadi matriks Merah (R), Hijau (G), dan Biru (B).</a:t>
            </a:r>
          </a:p>
          <a:p>
            <a:pPr algn="just">
              <a:lnSpc>
                <a:spcPts val="1888"/>
              </a:lnSpc>
            </a:pPr>
          </a:p>
          <a:p>
            <a:pPr algn="just" marL="595468" indent="-297734" lvl="1">
              <a:lnSpc>
                <a:spcPts val="3861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Kompresi Individual: Algoritma histogram diterapkan pada masing-masing kanal secara terpisah.</a:t>
            </a:r>
          </a:p>
          <a:p>
            <a:pPr algn="just">
              <a:lnSpc>
                <a:spcPts val="1888"/>
              </a:lnSpc>
            </a:pPr>
          </a:p>
          <a:p>
            <a:pPr algn="just" marL="595468" indent="-297734" lvl="1">
              <a:lnSpc>
                <a:spcPts val="3861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Merge: Hasil R', G', dan B' digabungkan kembali menjadi citra RGB terkompresi.</a:t>
            </a:r>
          </a:p>
          <a:p>
            <a:pPr algn="just">
              <a:lnSpc>
                <a:spcPts val="386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75205" y="4161648"/>
            <a:ext cx="7271726" cy="4684578"/>
            <a:chOff x="0" y="0"/>
            <a:chExt cx="1915187" cy="12337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5187" cy="1233798"/>
            </a:xfrm>
            <a:custGeom>
              <a:avLst/>
              <a:gdLst/>
              <a:ahLst/>
              <a:cxnLst/>
              <a:rect r="r" b="b" t="t" l="l"/>
              <a:pathLst>
                <a:path h="1233798" w="1915187">
                  <a:moveTo>
                    <a:pt x="38328" y="0"/>
                  </a:moveTo>
                  <a:lnTo>
                    <a:pt x="1876859" y="0"/>
                  </a:lnTo>
                  <a:cubicBezTo>
                    <a:pt x="1898027" y="0"/>
                    <a:pt x="1915187" y="17160"/>
                    <a:pt x="1915187" y="38328"/>
                  </a:cubicBezTo>
                  <a:lnTo>
                    <a:pt x="1915187" y="1195471"/>
                  </a:lnTo>
                  <a:cubicBezTo>
                    <a:pt x="1915187" y="1216638"/>
                    <a:pt x="1898027" y="1233798"/>
                    <a:pt x="1876859" y="1233798"/>
                  </a:cubicBezTo>
                  <a:lnTo>
                    <a:pt x="38328" y="1233798"/>
                  </a:lnTo>
                  <a:cubicBezTo>
                    <a:pt x="17160" y="1233798"/>
                    <a:pt x="0" y="1216638"/>
                    <a:pt x="0" y="1195471"/>
                  </a:cubicBezTo>
                  <a:lnTo>
                    <a:pt x="0" y="38328"/>
                  </a:lnTo>
                  <a:cubicBezTo>
                    <a:pt x="0" y="17160"/>
                    <a:pt x="17160" y="0"/>
                    <a:pt x="38328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15187" cy="1262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90614" y="847725"/>
            <a:ext cx="9306772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2274" y="4437855"/>
            <a:ext cx="5874546" cy="411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6"/>
              </a:lnSpc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Struktur Folder: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models/ : Logika Algoritma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views/ Tampilan GUI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controllers/ : Penghubung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image/ : Gambar         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39736" y="2856841"/>
            <a:ext cx="7364007" cy="5989385"/>
            <a:chOff x="0" y="0"/>
            <a:chExt cx="1939492" cy="15774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9491" cy="1577451"/>
            </a:xfrm>
            <a:custGeom>
              <a:avLst/>
              <a:gdLst/>
              <a:ahLst/>
              <a:cxnLst/>
              <a:rect r="r" b="b" t="t" l="l"/>
              <a:pathLst>
                <a:path h="1577451" w="1939491">
                  <a:moveTo>
                    <a:pt x="37847" y="0"/>
                  </a:moveTo>
                  <a:lnTo>
                    <a:pt x="1901644" y="0"/>
                  </a:lnTo>
                  <a:cubicBezTo>
                    <a:pt x="1911682" y="0"/>
                    <a:pt x="1921309" y="3987"/>
                    <a:pt x="1928406" y="11085"/>
                  </a:cubicBezTo>
                  <a:cubicBezTo>
                    <a:pt x="1935504" y="18183"/>
                    <a:pt x="1939491" y="27810"/>
                    <a:pt x="1939491" y="37847"/>
                  </a:cubicBezTo>
                  <a:lnTo>
                    <a:pt x="1939491" y="1539604"/>
                  </a:lnTo>
                  <a:cubicBezTo>
                    <a:pt x="1939491" y="1560506"/>
                    <a:pt x="1922547" y="1577451"/>
                    <a:pt x="1901644" y="1577451"/>
                  </a:cubicBezTo>
                  <a:lnTo>
                    <a:pt x="37847" y="1577451"/>
                  </a:lnTo>
                  <a:cubicBezTo>
                    <a:pt x="27810" y="1577451"/>
                    <a:pt x="18183" y="1573464"/>
                    <a:pt x="11085" y="1566366"/>
                  </a:cubicBezTo>
                  <a:cubicBezTo>
                    <a:pt x="3987" y="1559268"/>
                    <a:pt x="0" y="1549641"/>
                    <a:pt x="0" y="1539604"/>
                  </a:cubicBezTo>
                  <a:lnTo>
                    <a:pt x="0" y="37847"/>
                  </a:lnTo>
                  <a:cubicBezTo>
                    <a:pt x="0" y="16945"/>
                    <a:pt x="16945" y="0"/>
                    <a:pt x="37847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39492" cy="1606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99560" y="3074920"/>
            <a:ext cx="6644358" cy="548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6"/>
              </a:lnSpc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Library Utama: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Tkinter : Antarmuka Desktop (GUI)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OpenCV &amp; NumPy : Pengolahan Matriks Citra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Matplotlib : Visualisasi Grafik Histogram</a:t>
            </a:r>
          </a:p>
          <a:p>
            <a:pPr algn="just">
              <a:lnSpc>
                <a:spcPts val="3666"/>
              </a:lnSpc>
            </a:pPr>
          </a:p>
          <a:p>
            <a:pPr algn="just" marL="565452" indent="-282726" lvl="1">
              <a:lnSpc>
                <a:spcPts val="3666"/>
              </a:lnSpc>
              <a:buFont typeface="Arial"/>
              <a:buChar char="•"/>
            </a:pPr>
            <a:r>
              <a:rPr lang="en-US" sz="26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Pillow (PIL) : Menampilkan Hasil Olahan OpenCV ke Jendela Aplikasi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5205" y="2799691"/>
            <a:ext cx="7271726" cy="90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sz="25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 dibangun  dengan struktur Model View Controller (MVC)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74411" y="2746162"/>
            <a:ext cx="6779981" cy="5439303"/>
            <a:chOff x="0" y="0"/>
            <a:chExt cx="1785674" cy="14325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5674" cy="1432574"/>
            </a:xfrm>
            <a:custGeom>
              <a:avLst/>
              <a:gdLst/>
              <a:ahLst/>
              <a:cxnLst/>
              <a:rect r="r" b="b" t="t" l="l"/>
              <a:pathLst>
                <a:path h="1432574" w="1785674">
                  <a:moveTo>
                    <a:pt x="41108" y="0"/>
                  </a:moveTo>
                  <a:lnTo>
                    <a:pt x="1744566" y="0"/>
                  </a:lnTo>
                  <a:cubicBezTo>
                    <a:pt x="1755469" y="0"/>
                    <a:pt x="1765925" y="4331"/>
                    <a:pt x="1773634" y="12040"/>
                  </a:cubicBezTo>
                  <a:cubicBezTo>
                    <a:pt x="1781343" y="19749"/>
                    <a:pt x="1785674" y="30205"/>
                    <a:pt x="1785674" y="41108"/>
                  </a:cubicBezTo>
                  <a:lnTo>
                    <a:pt x="1785674" y="1391466"/>
                  </a:lnTo>
                  <a:cubicBezTo>
                    <a:pt x="1785674" y="1402368"/>
                    <a:pt x="1781343" y="1412824"/>
                    <a:pt x="1773634" y="1420533"/>
                  </a:cubicBezTo>
                  <a:cubicBezTo>
                    <a:pt x="1765925" y="1428243"/>
                    <a:pt x="1755469" y="1432574"/>
                    <a:pt x="1744566" y="1432574"/>
                  </a:cubicBezTo>
                  <a:lnTo>
                    <a:pt x="41108" y="1432574"/>
                  </a:lnTo>
                  <a:cubicBezTo>
                    <a:pt x="18405" y="1432574"/>
                    <a:pt x="0" y="1414169"/>
                    <a:pt x="0" y="1391466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785674" cy="1461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33608" y="2746162"/>
            <a:ext cx="6779981" cy="5439303"/>
            <a:chOff x="0" y="0"/>
            <a:chExt cx="1785674" cy="14325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5674" cy="1432574"/>
            </a:xfrm>
            <a:custGeom>
              <a:avLst/>
              <a:gdLst/>
              <a:ahLst/>
              <a:cxnLst/>
              <a:rect r="r" b="b" t="t" l="l"/>
              <a:pathLst>
                <a:path h="1432574" w="1785674">
                  <a:moveTo>
                    <a:pt x="41108" y="0"/>
                  </a:moveTo>
                  <a:lnTo>
                    <a:pt x="1744566" y="0"/>
                  </a:lnTo>
                  <a:cubicBezTo>
                    <a:pt x="1755469" y="0"/>
                    <a:pt x="1765925" y="4331"/>
                    <a:pt x="1773634" y="12040"/>
                  </a:cubicBezTo>
                  <a:cubicBezTo>
                    <a:pt x="1781343" y="19749"/>
                    <a:pt x="1785674" y="30205"/>
                    <a:pt x="1785674" y="41108"/>
                  </a:cubicBezTo>
                  <a:lnTo>
                    <a:pt x="1785674" y="1391466"/>
                  </a:lnTo>
                  <a:cubicBezTo>
                    <a:pt x="1785674" y="1402368"/>
                    <a:pt x="1781343" y="1412824"/>
                    <a:pt x="1773634" y="1420533"/>
                  </a:cubicBezTo>
                  <a:cubicBezTo>
                    <a:pt x="1765925" y="1428243"/>
                    <a:pt x="1755469" y="1432574"/>
                    <a:pt x="1744566" y="1432574"/>
                  </a:cubicBezTo>
                  <a:lnTo>
                    <a:pt x="41108" y="1432574"/>
                  </a:lnTo>
                  <a:cubicBezTo>
                    <a:pt x="18405" y="1432574"/>
                    <a:pt x="0" y="1414169"/>
                    <a:pt x="0" y="1391466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785674" cy="1461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900157" y="847725"/>
            <a:ext cx="10487685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EVALUASI KUALITAS CITRA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16478" y="2982253"/>
            <a:ext cx="6095848" cy="429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6"/>
              </a:lnSpc>
            </a:pPr>
            <a:r>
              <a:rPr lang="en-US" sz="331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MSE (Mean Squared Error)</a:t>
            </a: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  <a:r>
              <a:rPr lang="en-US" sz="2319">
                <a:solidFill>
                  <a:srgbClr val="00423B"/>
                </a:solidFill>
                <a:latin typeface="Poppins"/>
                <a:ea typeface="Poppins"/>
                <a:cs typeface="Poppins"/>
                <a:sym typeface="Poppins"/>
              </a:rPr>
              <a:t>Menghitung rata-rata kuadrat selisih antara citra asli dan citra hasil kompresi.</a:t>
            </a: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  <a:r>
              <a:rPr lang="en-US" sz="2319">
                <a:solidFill>
                  <a:srgbClr val="00423B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319" i="true">
                <a:solidFill>
                  <a:srgbClr val="00423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Semakin </a:t>
            </a:r>
            <a:r>
              <a:rPr lang="en-US" b="true" sz="2319" i="true">
                <a:solidFill>
                  <a:srgbClr val="0042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kecil</a:t>
            </a:r>
            <a:r>
              <a:rPr lang="en-US" sz="2319" i="true">
                <a:solidFill>
                  <a:srgbClr val="00423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nilai MSE, semakin baik.”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5674" y="2982253"/>
            <a:ext cx="6095848" cy="487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6"/>
              </a:lnSpc>
            </a:pPr>
            <a:r>
              <a:rPr lang="en-US" sz="3319" b="true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PSNR (Peak Signal to Noise Ratio)</a:t>
            </a: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  <a:r>
              <a:rPr lang="en-US" sz="2319">
                <a:solidFill>
                  <a:srgbClr val="00423B"/>
                </a:solidFill>
                <a:latin typeface="Poppins"/>
                <a:ea typeface="Poppins"/>
                <a:cs typeface="Poppins"/>
                <a:sym typeface="Poppins"/>
              </a:rPr>
              <a:t>Perbandingan antara nilai sinyal maksimum dengan noise (MSE). Dihitung dalam desibel (dB.)</a:t>
            </a: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</a:p>
          <a:p>
            <a:pPr algn="just">
              <a:lnSpc>
                <a:spcPts val="3246"/>
              </a:lnSpc>
            </a:pPr>
            <a:r>
              <a:rPr lang="en-US" sz="2319">
                <a:solidFill>
                  <a:srgbClr val="00423B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319" i="true">
                <a:solidFill>
                  <a:srgbClr val="00423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Semakin </a:t>
            </a:r>
            <a:r>
              <a:rPr lang="en-US" b="true" sz="2319" i="true">
                <a:solidFill>
                  <a:srgbClr val="0042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besar</a:t>
            </a:r>
            <a:r>
              <a:rPr lang="en-US" sz="2319" i="true">
                <a:solidFill>
                  <a:srgbClr val="00423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nilai PNSR, semakin baik kualitas citra hasil rekonstruksi..”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02931" y="3993071"/>
            <a:ext cx="13282137" cy="3089815"/>
            <a:chOff x="0" y="0"/>
            <a:chExt cx="3498176" cy="8137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98176" cy="813778"/>
            </a:xfrm>
            <a:custGeom>
              <a:avLst/>
              <a:gdLst/>
              <a:ahLst/>
              <a:cxnLst/>
              <a:rect r="r" b="b" t="t" l="l"/>
              <a:pathLst>
                <a:path h="813778" w="3498176">
                  <a:moveTo>
                    <a:pt x="20984" y="0"/>
                  </a:moveTo>
                  <a:lnTo>
                    <a:pt x="3477192" y="0"/>
                  </a:lnTo>
                  <a:cubicBezTo>
                    <a:pt x="3488781" y="0"/>
                    <a:pt x="3498176" y="9395"/>
                    <a:pt x="3498176" y="20984"/>
                  </a:cubicBezTo>
                  <a:lnTo>
                    <a:pt x="3498176" y="792795"/>
                  </a:lnTo>
                  <a:cubicBezTo>
                    <a:pt x="3498176" y="804384"/>
                    <a:pt x="3488781" y="813778"/>
                    <a:pt x="3477192" y="813778"/>
                  </a:cubicBezTo>
                  <a:lnTo>
                    <a:pt x="20984" y="813778"/>
                  </a:lnTo>
                  <a:cubicBezTo>
                    <a:pt x="9395" y="813778"/>
                    <a:pt x="0" y="804384"/>
                    <a:pt x="0" y="792795"/>
                  </a:cubicBezTo>
                  <a:lnTo>
                    <a:pt x="0" y="20984"/>
                  </a:lnTo>
                  <a:cubicBezTo>
                    <a:pt x="0" y="9395"/>
                    <a:pt x="9395" y="0"/>
                    <a:pt x="20984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498176" cy="842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94957" y="847725"/>
            <a:ext cx="7298086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00423B"/>
                </a:solidFill>
                <a:latin typeface="Poppins Bold"/>
                <a:ea typeface="Poppins Bold"/>
                <a:cs typeface="Poppins Bold"/>
                <a:sym typeface="Poppins Bold"/>
              </a:rPr>
              <a:t>MINI APPLICATION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7528" y="4337953"/>
            <a:ext cx="12772943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https://tugas-kuantisasi-unpam-kel6.streamlit.app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07848" y="847725"/>
            <a:ext cx="5072304" cy="11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b="true" sz="62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4707" y="2660437"/>
            <a:ext cx="12818586" cy="433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Kuantisasi adalah teknik yang efektif untuk mengurangi ukuran file citra.</a:t>
            </a:r>
          </a:p>
          <a:p>
            <a:pPr algn="ctr">
              <a:lnSpc>
                <a:spcPts val="4294"/>
              </a:lnSpc>
            </a:pPr>
          </a:p>
          <a:p>
            <a:pPr algn="ctr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Pendekatan berbasis histogram menghasilkan kompresi yang lebih pintar dan adaptif.</a:t>
            </a:r>
          </a:p>
          <a:p>
            <a:pPr algn="ctr">
              <a:lnSpc>
                <a:spcPts val="4294"/>
              </a:lnSpc>
            </a:pPr>
          </a:p>
          <a:p>
            <a:pPr algn="ctr">
              <a:lnSpc>
                <a:spcPts val="4294"/>
              </a:lnSpc>
            </a:pPr>
            <a:r>
              <a:rPr lang="en-US" sz="3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Kualitas citra hasil dapat dipertahankan dengan baik, yang dibuktikan melalui pengukuran MSE dan PSNR.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0" y="0"/>
                </a:moveTo>
                <a:lnTo>
                  <a:pt x="3744548" y="0"/>
                </a:lnTo>
                <a:lnTo>
                  <a:pt x="3744548" y="3468387"/>
                </a:lnTo>
                <a:lnTo>
                  <a:pt x="0" y="346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0" y="0"/>
                </a:moveTo>
                <a:lnTo>
                  <a:pt x="5019178" y="0"/>
                </a:lnTo>
                <a:lnTo>
                  <a:pt x="5019178" y="2264904"/>
                </a:lnTo>
                <a:lnTo>
                  <a:pt x="0" y="2264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543452" y="6818613"/>
            <a:ext cx="3744548" cy="3468387"/>
          </a:xfrm>
          <a:custGeom>
            <a:avLst/>
            <a:gdLst/>
            <a:ahLst/>
            <a:cxnLst/>
            <a:rect r="r" b="b" t="t" l="l"/>
            <a:pathLst>
              <a:path h="3468387" w="3744548">
                <a:moveTo>
                  <a:pt x="3744548" y="0"/>
                </a:moveTo>
                <a:lnTo>
                  <a:pt x="0" y="0"/>
                </a:lnTo>
                <a:lnTo>
                  <a:pt x="0" y="3468387"/>
                </a:lnTo>
                <a:lnTo>
                  <a:pt x="3744548" y="3468387"/>
                </a:lnTo>
                <a:lnTo>
                  <a:pt x="3744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268822" y="0"/>
            <a:ext cx="5019178" cy="2264904"/>
          </a:xfrm>
          <a:custGeom>
            <a:avLst/>
            <a:gdLst/>
            <a:ahLst/>
            <a:cxnLst/>
            <a:rect r="r" b="b" t="t" l="l"/>
            <a:pathLst>
              <a:path h="2264904" w="5019178">
                <a:moveTo>
                  <a:pt x="5019178" y="0"/>
                </a:moveTo>
                <a:lnTo>
                  <a:pt x="0" y="0"/>
                </a:lnTo>
                <a:lnTo>
                  <a:pt x="0" y="2264904"/>
                </a:lnTo>
                <a:lnTo>
                  <a:pt x="5019178" y="2264904"/>
                </a:lnTo>
                <a:lnTo>
                  <a:pt x="50191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0577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5726" y="285656"/>
            <a:ext cx="1601697" cy="446473"/>
          </a:xfrm>
          <a:custGeom>
            <a:avLst/>
            <a:gdLst/>
            <a:ahLst/>
            <a:cxnLst/>
            <a:rect r="r" b="b" t="t" l="l"/>
            <a:pathLst>
              <a:path h="446473" w="1601697">
                <a:moveTo>
                  <a:pt x="0" y="0"/>
                </a:moveTo>
                <a:lnTo>
                  <a:pt x="1601697" y="0"/>
                </a:lnTo>
                <a:lnTo>
                  <a:pt x="1601697" y="446473"/>
                </a:lnTo>
                <a:lnTo>
                  <a:pt x="0" y="44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288513" y="6763998"/>
            <a:ext cx="9710974" cy="1096736"/>
            <a:chOff x="0" y="0"/>
            <a:chExt cx="2283158" cy="2578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3158" cy="257855"/>
            </a:xfrm>
            <a:custGeom>
              <a:avLst/>
              <a:gdLst/>
              <a:ahLst/>
              <a:cxnLst/>
              <a:rect r="r" b="b" t="t" l="l"/>
              <a:pathLst>
                <a:path h="257855" w="2283158">
                  <a:moveTo>
                    <a:pt x="23917" y="0"/>
                  </a:moveTo>
                  <a:lnTo>
                    <a:pt x="2259241" y="0"/>
                  </a:lnTo>
                  <a:cubicBezTo>
                    <a:pt x="2265584" y="0"/>
                    <a:pt x="2271668" y="2520"/>
                    <a:pt x="2276153" y="7005"/>
                  </a:cubicBezTo>
                  <a:cubicBezTo>
                    <a:pt x="2280638" y="11490"/>
                    <a:pt x="2283158" y="17574"/>
                    <a:pt x="2283158" y="23917"/>
                  </a:cubicBezTo>
                  <a:lnTo>
                    <a:pt x="2283158" y="233938"/>
                  </a:lnTo>
                  <a:cubicBezTo>
                    <a:pt x="2283158" y="240281"/>
                    <a:pt x="2280638" y="246364"/>
                    <a:pt x="2276153" y="250850"/>
                  </a:cubicBezTo>
                  <a:cubicBezTo>
                    <a:pt x="2271668" y="255335"/>
                    <a:pt x="2265584" y="257855"/>
                    <a:pt x="2259241" y="257855"/>
                  </a:cubicBezTo>
                  <a:lnTo>
                    <a:pt x="23917" y="257855"/>
                  </a:lnTo>
                  <a:cubicBezTo>
                    <a:pt x="17574" y="257855"/>
                    <a:pt x="11490" y="255335"/>
                    <a:pt x="7005" y="250850"/>
                  </a:cubicBezTo>
                  <a:cubicBezTo>
                    <a:pt x="2520" y="246364"/>
                    <a:pt x="0" y="240281"/>
                    <a:pt x="0" y="233938"/>
                  </a:cubicBezTo>
                  <a:lnTo>
                    <a:pt x="0" y="23917"/>
                  </a:lnTo>
                  <a:cubicBezTo>
                    <a:pt x="0" y="17574"/>
                    <a:pt x="2520" y="11490"/>
                    <a:pt x="7005" y="7005"/>
                  </a:cubicBezTo>
                  <a:cubicBezTo>
                    <a:pt x="11490" y="2520"/>
                    <a:pt x="17574" y="0"/>
                    <a:pt x="23917" y="0"/>
                  </a:cubicBezTo>
                  <a:close/>
                </a:path>
              </a:pathLst>
            </a:custGeom>
            <a:solidFill>
              <a:srgbClr val="00423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3158" cy="295955"/>
            </a:xfrm>
            <a:prstGeom prst="rect">
              <a:avLst/>
            </a:prstGeom>
          </p:spPr>
          <p:txBody>
            <a:bodyPr anchor="ctr" rtlCol="false" tIns="56907" lIns="56907" bIns="56907" rIns="5690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53704" y="2483416"/>
            <a:ext cx="10180592" cy="404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8"/>
              </a:lnSpc>
            </a:pPr>
            <a:r>
              <a:rPr lang="en-US" b="true" sz="14288">
                <a:solidFill>
                  <a:srgbClr val="00423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TERIMA KASIH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9966" y="6773027"/>
            <a:ext cx="6508069" cy="93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sz="5207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Kelompok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DAG5aoAqSc4</dc:identifier>
  <dcterms:modified xsi:type="dcterms:W3CDTF">2011-08-01T06:04:30Z</dcterms:modified>
  <cp:revision>1</cp:revision>
  <dc:title>PPT PCD - Metode Kuantisasi</dc:title>
</cp:coreProperties>
</file>